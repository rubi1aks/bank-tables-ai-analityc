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9"/>
  </p:notesMasterIdLst>
  <p:sldIdLst>
    <p:sldId id="256" r:id="rId2"/>
    <p:sldId id="263" r:id="rId3"/>
    <p:sldId id="260" r:id="rId4"/>
    <p:sldId id="258" r:id="rId5"/>
    <p:sldId id="259" r:id="rId6"/>
    <p:sldId id="261" r:id="rId7"/>
    <p:sldId id="264" r:id="rId8"/>
  </p:sldIdLst>
  <p:sldSz cx="12192000" cy="6858000"/>
  <p:notesSz cx="6858000" cy="9144000"/>
  <p:embeddedFontLst>
    <p:embeddedFont>
      <p:font typeface="Roboto" panose="020B0604020202020204" charset="0"/>
      <p:regular r:id="rId10"/>
      <p:bold r:id="rId11"/>
      <p:italic r:id="rId12"/>
      <p:bold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Abril Fatface" panose="020B0604020202020204" charset="0"/>
      <p:regular r:id="rId18"/>
    </p:embeddedFont>
    <p:embeddedFont>
      <p:font typeface="Roboto Mon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2" y="27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391" name="Google Shape;391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408" name="Google Shape;408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422" name="Google Shape;42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1F2B25A2-FFB2-B509-95BB-9B01ED77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a073618e60_0_26:notes">
            <a:extLst>
              <a:ext uri="{FF2B5EF4-FFF2-40B4-BE49-F238E27FC236}">
                <a16:creationId xmlns:a16="http://schemas.microsoft.com/office/drawing/2014/main" id="{0B8FCE6E-AD35-EAF5-FFAF-0099D57332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391" name="Google Shape;391;ga073618e60_0_26:notes">
            <a:extLst>
              <a:ext uri="{FF2B5EF4-FFF2-40B4-BE49-F238E27FC236}">
                <a16:creationId xmlns:a16="http://schemas.microsoft.com/office/drawing/2014/main" id="{627B8E3C-70EF-83C8-5A62-B79FC3C33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82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852246" y="3768247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0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987983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618138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79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771384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520051" y="4606376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0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655734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176875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5"/>
          <p:cNvGrpSpPr/>
          <p:nvPr/>
        </p:nvGrpSpPr>
        <p:grpSpPr>
          <a:xfrm>
            <a:off x="8201100" y="4138775"/>
            <a:ext cx="3509100" cy="2030700"/>
            <a:chOff x="8115925" y="1776575"/>
            <a:chExt cx="3509100" cy="2030700"/>
          </a:xfrm>
        </p:grpSpPr>
        <p:sp>
          <p:nvSpPr>
            <p:cNvPr id="83" name="Google Shape;83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" name="Google Shape;84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85" name="Google Shape;8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5"/>
          <p:cNvGrpSpPr/>
          <p:nvPr/>
        </p:nvGrpSpPr>
        <p:grpSpPr>
          <a:xfrm>
            <a:off x="481800" y="4138775"/>
            <a:ext cx="3509100" cy="2030700"/>
            <a:chOff x="396625" y="1776575"/>
            <a:chExt cx="3509100" cy="2030700"/>
          </a:xfrm>
        </p:grpSpPr>
        <p:sp>
          <p:nvSpPr>
            <p:cNvPr id="89" name="Google Shape;89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" name="Google Shape;94;p5"/>
          <p:cNvGrpSpPr/>
          <p:nvPr/>
        </p:nvGrpSpPr>
        <p:grpSpPr>
          <a:xfrm>
            <a:off x="4341450" y="4138775"/>
            <a:ext cx="3509100" cy="2030700"/>
            <a:chOff x="4234200" y="1776575"/>
            <a:chExt cx="3509100" cy="2030700"/>
          </a:xfrm>
        </p:grpSpPr>
        <p:sp>
          <p:nvSpPr>
            <p:cNvPr id="95" name="Google Shape;95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97" name="Google Shape;97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" name="Google Shape;100;p5"/>
          <p:cNvGrpSpPr/>
          <p:nvPr/>
        </p:nvGrpSpPr>
        <p:grpSpPr>
          <a:xfrm>
            <a:off x="481800" y="1776575"/>
            <a:ext cx="3509100" cy="2030700"/>
            <a:chOff x="396625" y="1776575"/>
            <a:chExt cx="3509100" cy="2030700"/>
          </a:xfrm>
        </p:grpSpPr>
        <p:sp>
          <p:nvSpPr>
            <p:cNvPr id="101" name="Google Shape;101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103" name="Google Shape;103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" name="Google Shape;106;p5"/>
          <p:cNvGrpSpPr/>
          <p:nvPr/>
        </p:nvGrpSpPr>
        <p:grpSpPr>
          <a:xfrm>
            <a:off x="8201100" y="1776575"/>
            <a:ext cx="3509100" cy="2030700"/>
            <a:chOff x="8115925" y="1776575"/>
            <a:chExt cx="3509100" cy="2030700"/>
          </a:xfrm>
        </p:grpSpPr>
        <p:sp>
          <p:nvSpPr>
            <p:cNvPr id="107" name="Google Shape;107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109" name="Google Shape;109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" name="Google Shape;112;p5"/>
          <p:cNvGrpSpPr/>
          <p:nvPr/>
        </p:nvGrpSpPr>
        <p:grpSpPr>
          <a:xfrm>
            <a:off x="4341450" y="1776575"/>
            <a:ext cx="3509100" cy="2030700"/>
            <a:chOff x="4234200" y="1776575"/>
            <a:chExt cx="3509100" cy="2030700"/>
          </a:xfrm>
        </p:grpSpPr>
        <p:sp>
          <p:nvSpPr>
            <p:cNvPr id="113" name="Google Shape;113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79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115" name="Google Shape;11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90775" y="523275"/>
            <a:ext cx="11210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575950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 idx="5"/>
          </p:nvPr>
        </p:nvSpPr>
        <p:spPr>
          <a:xfrm>
            <a:off x="942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title" idx="6"/>
          </p:nvPr>
        </p:nvSpPr>
        <p:spPr>
          <a:xfrm>
            <a:off x="4448700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7"/>
          </p:nvPr>
        </p:nvSpPr>
        <p:spPr>
          <a:xfrm>
            <a:off x="49077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8"/>
          </p:nvPr>
        </p:nvSpPr>
        <p:spPr>
          <a:xfrm>
            <a:off x="4448700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title" idx="14"/>
          </p:nvPr>
        </p:nvSpPr>
        <p:spPr>
          <a:xfrm>
            <a:off x="8406625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 idx="15"/>
          </p:nvPr>
        </p:nvSpPr>
        <p:spPr>
          <a:xfrm>
            <a:off x="840662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1119150" y="10897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79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6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134" name="Google Shape;134;p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3811700" y="2041663"/>
            <a:ext cx="6345900" cy="157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2034300" y="4052838"/>
            <a:ext cx="8123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638797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79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7"/>
          <p:cNvGrpSpPr/>
          <p:nvPr/>
        </p:nvGrpSpPr>
        <p:grpSpPr>
          <a:xfrm>
            <a:off x="6541221" y="1539734"/>
            <a:ext cx="635280" cy="147600"/>
            <a:chOff x="2147366" y="4139382"/>
            <a:chExt cx="635280" cy="147600"/>
          </a:xfrm>
        </p:grpSpPr>
        <p:sp>
          <p:nvSpPr>
            <p:cNvPr id="142" name="Google Shape;142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/>
          <p:nvPr/>
        </p:nvSpPr>
        <p:spPr>
          <a:xfrm>
            <a:off x="99442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79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7"/>
          <p:cNvGrpSpPr/>
          <p:nvPr/>
        </p:nvGrpSpPr>
        <p:grpSpPr>
          <a:xfrm>
            <a:off x="1147671" y="1539734"/>
            <a:ext cx="635280" cy="147600"/>
            <a:chOff x="2147366" y="4139382"/>
            <a:chExt cx="635280" cy="147600"/>
          </a:xfrm>
        </p:grpSpPr>
        <p:sp>
          <p:nvSpPr>
            <p:cNvPr id="147" name="Google Shape;147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1315075" y="2268525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6679275" y="225500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790075" y="8901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79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8"/>
          <p:cNvGrpSpPr/>
          <p:nvPr/>
        </p:nvGrpSpPr>
        <p:grpSpPr>
          <a:xfrm>
            <a:off x="943321" y="1000259"/>
            <a:ext cx="635280" cy="147600"/>
            <a:chOff x="2147366" y="4139382"/>
            <a:chExt cx="635280" cy="147600"/>
          </a:xfrm>
        </p:grpSpPr>
        <p:sp>
          <p:nvSpPr>
            <p:cNvPr id="156" name="Google Shape;156;p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8"/>
          <p:cNvSpPr txBox="1">
            <a:spLocks noGrp="1"/>
          </p:cNvSpPr>
          <p:nvPr>
            <p:ph type="subTitle" idx="1"/>
          </p:nvPr>
        </p:nvSpPr>
        <p:spPr>
          <a:xfrm>
            <a:off x="920475" y="1895300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920475" y="84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body" idx="2"/>
          </p:nvPr>
        </p:nvSpPr>
        <p:spPr>
          <a:xfrm>
            <a:off x="920475" y="2555475"/>
            <a:ext cx="77940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666000" y="1518625"/>
            <a:ext cx="10932600" cy="46206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79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1"/>
          <p:cNvGrpSpPr/>
          <p:nvPr/>
        </p:nvGrpSpPr>
        <p:grpSpPr>
          <a:xfrm>
            <a:off x="819246" y="1628734"/>
            <a:ext cx="635280" cy="147600"/>
            <a:chOff x="2147366" y="4139382"/>
            <a:chExt cx="635280" cy="147600"/>
          </a:xfrm>
        </p:grpSpPr>
        <p:sp>
          <p:nvSpPr>
            <p:cNvPr id="187" name="Google Shape;187;p11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1" name="Google Shape;191;p11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2" name="Google Shape;192;p11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2523475" y="1607299"/>
            <a:ext cx="6796800" cy="290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5000" dirty="0"/>
              <a:t>Интеллектуальная система планирования доходов банка</a:t>
            </a:r>
            <a:endParaRPr sz="5000" dirty="0"/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ru-RU" sz="2800" dirty="0">
                <a:solidFill>
                  <a:schemeClr val="accent1"/>
                </a:solidFill>
              </a:rPr>
              <a:t>Команда </a:t>
            </a:r>
            <a:r>
              <a:rPr lang="ru-RU" sz="2800" dirty="0" err="1">
                <a:solidFill>
                  <a:schemeClr val="accent1"/>
                </a:solidFill>
              </a:rPr>
              <a:t>Фанклуб</a:t>
            </a:r>
            <a:endParaRPr sz="2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>
                <a:solidFill>
                  <a:schemeClr val="accent2"/>
                </a:solidFill>
              </a:rPr>
              <a:t>Наша команда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12" name="Google Shape;426;p27">
            <a:extLst>
              <a:ext uri="{FF2B5EF4-FFF2-40B4-BE49-F238E27FC236}">
                <a16:creationId xmlns:a16="http://schemas.microsoft.com/office/drawing/2014/main" id="{8FE8A4B4-6C98-4244-AEA4-667C88A05E43}"/>
              </a:ext>
            </a:extLst>
          </p:cNvPr>
          <p:cNvSpPr txBox="1">
            <a:spLocks/>
          </p:cNvSpPr>
          <p:nvPr/>
        </p:nvSpPr>
        <p:spPr>
          <a:xfrm>
            <a:off x="1394957" y="1953892"/>
            <a:ext cx="9194386" cy="385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ru-RU" sz="2800" b="1" dirty="0"/>
              <a:t>Сергей Рачков </a:t>
            </a:r>
            <a:r>
              <a:rPr lang="ru-RU" sz="2800" dirty="0"/>
              <a:t>- </a:t>
            </a:r>
            <a:r>
              <a:rPr lang="en-US" sz="2800" dirty="0"/>
              <a:t>backend</a:t>
            </a:r>
            <a:endParaRPr lang="ru-RU" sz="2800" dirty="0"/>
          </a:p>
          <a:p>
            <a:pPr marL="0" indent="0">
              <a:lnSpc>
                <a:spcPct val="150000"/>
              </a:lnSpc>
            </a:pPr>
            <a:r>
              <a:rPr lang="ru-RU" sz="2800" b="1" dirty="0"/>
              <a:t>Елизавета Чичкан</a:t>
            </a:r>
            <a:r>
              <a:rPr lang="en-US" sz="2800" b="1" dirty="0"/>
              <a:t> </a:t>
            </a:r>
            <a:r>
              <a:rPr lang="ru-RU" sz="2800" dirty="0"/>
              <a:t>-</a:t>
            </a:r>
            <a:r>
              <a:rPr lang="en-US" sz="2800" dirty="0"/>
              <a:t> </a:t>
            </a:r>
            <a:r>
              <a:rPr lang="ru-RU" sz="2800" dirty="0"/>
              <a:t>аналитик данных</a:t>
            </a:r>
          </a:p>
          <a:p>
            <a:pPr marL="0" indent="0">
              <a:lnSpc>
                <a:spcPct val="150000"/>
              </a:lnSpc>
            </a:pPr>
            <a:r>
              <a:rPr lang="ru-RU" sz="2800" b="1" dirty="0"/>
              <a:t>Дарья Соловьева</a:t>
            </a:r>
            <a:r>
              <a:rPr lang="en-US" sz="2800" b="1" dirty="0"/>
              <a:t> </a:t>
            </a:r>
            <a:r>
              <a:rPr lang="en-US" sz="2800" dirty="0"/>
              <a:t>- ML</a:t>
            </a:r>
            <a:endParaRPr lang="ru-RU" sz="2800" b="1" dirty="0"/>
          </a:p>
          <a:p>
            <a:pPr marL="0" indent="0">
              <a:lnSpc>
                <a:spcPct val="150000"/>
              </a:lnSpc>
            </a:pPr>
            <a:r>
              <a:rPr lang="ru-RU" sz="2800" b="1" dirty="0"/>
              <a:t>Даниил Симанов </a:t>
            </a:r>
            <a:r>
              <a:rPr lang="ru-RU" sz="2800" dirty="0"/>
              <a:t>- </a:t>
            </a:r>
            <a:r>
              <a:rPr lang="en-US" sz="2800" dirty="0"/>
              <a:t>frontend</a:t>
            </a:r>
            <a:endParaRPr lang="ru-RU" sz="2800" dirty="0"/>
          </a:p>
          <a:p>
            <a:pPr marL="0" indent="0">
              <a:lnSpc>
                <a:spcPct val="150000"/>
              </a:lnSpc>
            </a:pPr>
            <a:r>
              <a:rPr lang="ru-RU" sz="2800" b="1" dirty="0"/>
              <a:t>Денис </a:t>
            </a:r>
            <a:r>
              <a:rPr lang="ru-RU" sz="2800" b="1" dirty="0" err="1"/>
              <a:t>Казачук</a:t>
            </a:r>
            <a:r>
              <a:rPr lang="en-US" sz="2800" b="1" dirty="0"/>
              <a:t> </a:t>
            </a:r>
            <a:r>
              <a:rPr lang="en-US" sz="2800" dirty="0"/>
              <a:t>– </a:t>
            </a:r>
            <a:r>
              <a:rPr lang="ru-RU" sz="2800" dirty="0"/>
              <a:t>базы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25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5400" dirty="0"/>
              <a:t>Бизнес-контекст</a:t>
            </a:r>
            <a:endParaRPr sz="8000" dirty="0">
              <a:solidFill>
                <a:schemeClr val="accent3"/>
              </a:solidFill>
            </a:endParaRPr>
          </a:p>
        </p:txBody>
      </p:sp>
      <p:sp>
        <p:nvSpPr>
          <p:cNvPr id="419" name="Google Shape;419;p26"/>
          <p:cNvSpPr txBox="1">
            <a:spLocks noGrp="1"/>
          </p:cNvSpPr>
          <p:nvPr>
            <p:ph type="body" idx="2"/>
          </p:nvPr>
        </p:nvSpPr>
        <p:spPr>
          <a:xfrm>
            <a:off x="1201000" y="2479339"/>
            <a:ext cx="8865600" cy="209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Компания управляет большим портфелем продуктов и услуг. Финансовые результаты формируются под влиянием множества факторов, а планирование ведётся ежегодно и ежеквартально.</a:t>
            </a:r>
          </a:p>
          <a:p>
            <a:pPr marL="0" lvl="0" indent="0">
              <a:buNone/>
            </a:pP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 txBox="1">
            <a:spLocks noGrp="1"/>
          </p:cNvSpPr>
          <p:nvPr>
            <p:ph type="title" idx="5"/>
          </p:nvPr>
        </p:nvSpPr>
        <p:spPr>
          <a:xfrm>
            <a:off x="950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06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95" name="Google Shape;395;p24"/>
          <p:cNvSpPr txBox="1">
            <a:spLocks noGrp="1"/>
          </p:cNvSpPr>
          <p:nvPr>
            <p:ph type="body" idx="1"/>
          </p:nvPr>
        </p:nvSpPr>
        <p:spPr>
          <a:xfrm>
            <a:off x="575950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Высокая трудоемкость и ручные операции</a:t>
            </a:r>
            <a:endParaRPr sz="2000" dirty="0"/>
          </a:p>
        </p:txBody>
      </p:sp>
      <p:sp>
        <p:nvSpPr>
          <p:cNvPr id="396" name="Google Shape;396;p24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Выявление наиболее значимых факторов</a:t>
            </a:r>
            <a:endParaRPr sz="2000" dirty="0"/>
          </a:p>
        </p:txBody>
      </p:sp>
      <p:sp>
        <p:nvSpPr>
          <p:cNvPr id="397" name="Google Shape;397;p24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Зависимость от экспертов</a:t>
            </a:r>
            <a:endParaRPr sz="2000" dirty="0"/>
          </a:p>
        </p:txBody>
      </p:sp>
      <p:sp>
        <p:nvSpPr>
          <p:cNvPr id="398" name="Google Shape;398;p24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Определение наилучшего сценария</a:t>
            </a:r>
            <a:endParaRPr sz="2000" dirty="0"/>
          </a:p>
        </p:txBody>
      </p:sp>
      <p:sp>
        <p:nvSpPr>
          <p:cNvPr id="399" name="Google Shape;399;p24"/>
          <p:cNvSpPr txBox="1">
            <a:spLocks noGrp="1"/>
          </p:cNvSpPr>
          <p:nvPr>
            <p:ph type="title" idx="5"/>
          </p:nvPr>
        </p:nvSpPr>
        <p:spPr>
          <a:xfrm>
            <a:off x="18070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00" name="Google Shape;400;p24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Отсутствие прозрачности расчетов</a:t>
            </a:r>
            <a:endParaRPr sz="2000" dirty="0"/>
          </a:p>
        </p:txBody>
      </p:sp>
      <p:sp>
        <p:nvSpPr>
          <p:cNvPr id="401" name="Google Shape;401;p24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Длительный цикл согласования</a:t>
            </a:r>
            <a:endParaRPr sz="2000" dirty="0"/>
          </a:p>
        </p:txBody>
      </p:sp>
      <p:sp>
        <p:nvSpPr>
          <p:cNvPr id="402" name="Google Shape;402;p24"/>
          <p:cNvSpPr txBox="1">
            <a:spLocks noGrp="1"/>
          </p:cNvSpPr>
          <p:nvPr>
            <p:ph type="title" idx="5"/>
          </p:nvPr>
        </p:nvSpPr>
        <p:spPr>
          <a:xfrm>
            <a:off x="569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5"/>
          </p:nvPr>
        </p:nvSpPr>
        <p:spPr>
          <a:xfrm>
            <a:off x="950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03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04" name="Google Shape;404;p24"/>
          <p:cNvSpPr txBox="1">
            <a:spLocks noGrp="1"/>
          </p:cNvSpPr>
          <p:nvPr>
            <p:ph type="title" idx="5"/>
          </p:nvPr>
        </p:nvSpPr>
        <p:spPr>
          <a:xfrm>
            <a:off x="180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04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05" name="Google Shape;405;p24"/>
          <p:cNvSpPr txBox="1">
            <a:spLocks noGrp="1"/>
          </p:cNvSpPr>
          <p:nvPr>
            <p:ph type="title" idx="5"/>
          </p:nvPr>
        </p:nvSpPr>
        <p:spPr>
          <a:xfrm>
            <a:off x="569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F98F9AB-1638-0379-DD03-EB64EEAB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Проблематика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>
            <a:spLocks noGrp="1"/>
          </p:cNvSpPr>
          <p:nvPr>
            <p:ph type="body" idx="1"/>
          </p:nvPr>
        </p:nvSpPr>
        <p:spPr>
          <a:xfrm>
            <a:off x="1521479" y="2199190"/>
            <a:ext cx="9520770" cy="309172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400" dirty="0">
                <a:solidFill>
                  <a:schemeClr val="accent1"/>
                </a:solidFill>
              </a:rPr>
              <a:t>Создание сервиса-интеллектуального помощника по планированию.</a:t>
            </a:r>
          </a:p>
          <a:p>
            <a:pPr marL="0" lvl="0" indent="0">
              <a:spcAft>
                <a:spcPts val="2100"/>
              </a:spcAft>
              <a:buNone/>
            </a:pPr>
            <a:r>
              <a:rPr lang="ru-RU" sz="2400" dirty="0">
                <a:solidFill>
                  <a:schemeClr val="accent1"/>
                </a:solidFill>
              </a:rPr>
              <a:t>Ключевая идея: бизнес-модель как граф.</a:t>
            </a:r>
          </a:p>
          <a:p>
            <a:pPr marL="0" lvl="0" indent="0">
              <a:spcAft>
                <a:spcPts val="2100"/>
              </a:spcAft>
              <a:buNone/>
            </a:pPr>
            <a:r>
              <a:rPr lang="ru-RU" sz="2400" dirty="0">
                <a:solidFill>
                  <a:schemeClr val="accent1"/>
                </a:solidFill>
              </a:rPr>
              <a:t>Система позволяет визуально описывать и редактировать зависимости между показателями бизнеса.</a:t>
            </a:r>
          </a:p>
          <a:p>
            <a:pPr marL="0" lvl="0" indent="0">
              <a:spcAft>
                <a:spcPts val="2100"/>
              </a:spcAft>
              <a:buNone/>
            </a:pPr>
            <a:endParaRPr dirty="0">
              <a:solidFill>
                <a:schemeClr val="accent1"/>
              </a:solidFill>
            </a:endParaRPr>
          </a:p>
        </p:txBody>
      </p:sp>
      <p:sp>
        <p:nvSpPr>
          <p:cNvPr id="411" name="Google Shape;411;p25"/>
          <p:cNvSpPr txBox="1">
            <a:spLocks noGrp="1"/>
          </p:cNvSpPr>
          <p:nvPr>
            <p:ph type="title"/>
          </p:nvPr>
        </p:nvSpPr>
        <p:spPr>
          <a:xfrm>
            <a:off x="2187387" y="1219872"/>
            <a:ext cx="7345500" cy="157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5800" dirty="0"/>
              <a:t>Решение</a:t>
            </a:r>
            <a:endParaRPr sz="5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119192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>
                <a:solidFill>
                  <a:schemeClr val="accent1"/>
                </a:solidFill>
              </a:rPr>
              <a:t>Технологии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425" name="Google Shape;425;p27"/>
          <p:cNvSpPr txBox="1">
            <a:spLocks noGrp="1"/>
          </p:cNvSpPr>
          <p:nvPr>
            <p:ph type="body" idx="2"/>
          </p:nvPr>
        </p:nvSpPr>
        <p:spPr>
          <a:xfrm>
            <a:off x="6679275" y="225500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en-US" sz="2800" b="1" dirty="0"/>
              <a:t>Frontend:</a:t>
            </a:r>
          </a:p>
          <a:p>
            <a:pPr marL="0" lvl="0" indent="0">
              <a:buNone/>
            </a:pPr>
            <a:r>
              <a:rPr lang="en-US" sz="2800" dirty="0"/>
              <a:t>   </a:t>
            </a:r>
            <a:r>
              <a:rPr lang="en-US" dirty="0"/>
              <a:t>React 18, </a:t>
            </a:r>
            <a:r>
              <a:rPr lang="en-US" dirty="0" err="1"/>
              <a:t>TypeScript</a:t>
            </a:r>
            <a:r>
              <a:rPr lang="en-US" dirty="0"/>
              <a:t>, </a:t>
            </a:r>
            <a:r>
              <a:rPr lang="en-US" dirty="0" err="1"/>
              <a:t>Vite</a:t>
            </a:r>
            <a:r>
              <a:rPr lang="en-US" dirty="0"/>
              <a:t> Tailwind CSS, </a:t>
            </a:r>
            <a:r>
              <a:rPr lang="en-US" dirty="0" err="1"/>
              <a:t>Recharts</a:t>
            </a:r>
            <a:r>
              <a:rPr lang="en-US" dirty="0"/>
              <a:t>, React Flow </a:t>
            </a:r>
            <a:r>
              <a:rPr lang="en-US" dirty="0" err="1"/>
              <a:t>Zustand</a:t>
            </a:r>
            <a:r>
              <a:rPr lang="en-US" dirty="0"/>
              <a:t>, React Hook </a:t>
            </a:r>
            <a:r>
              <a:rPr lang="en-US" dirty="0" smtClean="0"/>
              <a:t>Form</a:t>
            </a:r>
            <a:endParaRPr lang="ru-RU" dirty="0" smtClean="0"/>
          </a:p>
        </p:txBody>
      </p:sp>
      <p:sp>
        <p:nvSpPr>
          <p:cNvPr id="426" name="Google Shape;426;p27"/>
          <p:cNvSpPr txBox="1">
            <a:spLocks noGrp="1"/>
          </p:cNvSpPr>
          <p:nvPr>
            <p:ph type="body" idx="1"/>
          </p:nvPr>
        </p:nvSpPr>
        <p:spPr>
          <a:xfrm>
            <a:off x="1315075" y="215054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en-US" sz="2800" b="1" dirty="0" smtClean="0"/>
              <a:t>Backend</a:t>
            </a:r>
            <a:r>
              <a:rPr lang="en-US" sz="2800" b="1" dirty="0"/>
              <a:t>:</a:t>
            </a:r>
            <a:r>
              <a:rPr lang="ru-RU" sz="2800" b="1" dirty="0"/>
              <a:t> </a:t>
            </a:r>
            <a:endParaRPr lang="en-US" sz="2800" b="1" dirty="0"/>
          </a:p>
          <a:p>
            <a:pPr marL="0" lvl="0" indent="0">
              <a:buNone/>
            </a:pPr>
            <a:r>
              <a:rPr lang="en-US" sz="2800" dirty="0"/>
              <a:t>   </a:t>
            </a:r>
            <a:r>
              <a:rPr lang="en-US" dirty="0"/>
              <a:t>Java 17, Spring Boot 3, Spring Data JPA, </a:t>
            </a:r>
            <a:r>
              <a:rPr lang="en-US" dirty="0" smtClean="0"/>
              <a:t>H2</a:t>
            </a:r>
            <a:endParaRPr lang="ru-RU" dirty="0" smtClean="0"/>
          </a:p>
          <a:p>
            <a:pPr marL="0" lvl="0" indent="0">
              <a:buNone/>
            </a:pPr>
            <a:endParaRPr lang="ru-RU" dirty="0" smtClean="0"/>
          </a:p>
          <a:p>
            <a:pPr marL="0" lvl="0" indent="0">
              <a:buClr>
                <a:srgbClr val="FFFFFF"/>
              </a:buClr>
              <a:buNone/>
            </a:pPr>
            <a:r>
              <a:rPr lang="en-US" sz="2800" b="1" dirty="0">
                <a:solidFill>
                  <a:srgbClr val="FFFFFF"/>
                </a:solidFill>
              </a:rPr>
              <a:t>Python</a:t>
            </a:r>
            <a:r>
              <a:rPr lang="ru-RU" sz="2800" b="1" dirty="0">
                <a:solidFill>
                  <a:srgbClr val="FFFFFF"/>
                </a:solidFill>
              </a:rPr>
              <a:t>:</a:t>
            </a:r>
          </a:p>
          <a:p>
            <a:pPr marL="0" lvl="0" indent="0">
              <a:buClr>
                <a:srgbClr val="FFFFFF"/>
              </a:buClr>
              <a:buNone/>
            </a:pPr>
            <a:r>
              <a:rPr lang="ru-RU" sz="2800" b="1" dirty="0">
                <a:solidFill>
                  <a:srgbClr val="FFFFFF"/>
                </a:solidFill>
              </a:rPr>
              <a:t>   </a:t>
            </a:r>
            <a:r>
              <a:rPr lang="en-US" dirty="0">
                <a:solidFill>
                  <a:srgbClr val="FFFFFF"/>
                </a:solidFill>
              </a:rPr>
              <a:t>Python 3.10, </a:t>
            </a:r>
            <a:r>
              <a:rPr lang="en-US" dirty="0" err="1">
                <a:solidFill>
                  <a:srgbClr val="FFFFFF"/>
                </a:solidFill>
              </a:rPr>
              <a:t>FastAPI</a:t>
            </a:r>
            <a:endParaRPr lang="en-US" sz="2800" b="1" dirty="0">
              <a:solidFill>
                <a:srgbClr val="FFFFFF"/>
              </a:solidFill>
            </a:endParaRPr>
          </a:p>
          <a:p>
            <a:pPr marL="0" lvl="0" indent="0">
              <a:buNone/>
            </a:pPr>
            <a:endParaRPr lang="ru-RU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>
          <a:extLst>
            <a:ext uri="{FF2B5EF4-FFF2-40B4-BE49-F238E27FC236}">
              <a16:creationId xmlns:a16="http://schemas.microsoft.com/office/drawing/2014/main" id="{55EDB558-FAF1-D128-8D9D-C83D8373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>
            <a:extLst>
              <a:ext uri="{FF2B5EF4-FFF2-40B4-BE49-F238E27FC236}">
                <a16:creationId xmlns:a16="http://schemas.microsoft.com/office/drawing/2014/main" id="{6C42FFFA-F803-8921-4CAD-D78D7E5F2396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950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06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95" name="Google Shape;395;p24">
            <a:extLst>
              <a:ext uri="{FF2B5EF4-FFF2-40B4-BE49-F238E27FC236}">
                <a16:creationId xmlns:a16="http://schemas.microsoft.com/office/drawing/2014/main" id="{15175349-05B9-06DE-6816-941490BF60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89375" y="2341718"/>
            <a:ext cx="3294600" cy="144931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ИИ парсинга БД, для автоматического  определения категории полей</a:t>
            </a:r>
            <a:endParaRPr sz="2000" dirty="0"/>
          </a:p>
        </p:txBody>
      </p:sp>
      <p:sp>
        <p:nvSpPr>
          <p:cNvPr id="396" name="Google Shape;396;p24">
            <a:extLst>
              <a:ext uri="{FF2B5EF4-FFF2-40B4-BE49-F238E27FC236}">
                <a16:creationId xmlns:a16="http://schemas.microsoft.com/office/drawing/2014/main" id="{55BC581D-D739-6DD3-0464-237A8E3019B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675" y="2462369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Отдельная вкладка для драйверов</a:t>
            </a:r>
            <a:endParaRPr sz="2000" dirty="0"/>
          </a:p>
        </p:txBody>
      </p:sp>
      <p:sp>
        <p:nvSpPr>
          <p:cNvPr id="397" name="Google Shape;397;p24">
            <a:extLst>
              <a:ext uri="{FF2B5EF4-FFF2-40B4-BE49-F238E27FC236}">
                <a16:creationId xmlns:a16="http://schemas.microsoft.com/office/drawing/2014/main" id="{20112353-BC33-EF76-9D57-2481001FB99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21825" y="4783425"/>
            <a:ext cx="3592276" cy="144931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ИИ для связи новостей с аномалиями и возможность ручного удаления</a:t>
            </a:r>
            <a:endParaRPr sz="2000" dirty="0"/>
          </a:p>
        </p:txBody>
      </p:sp>
      <p:sp>
        <p:nvSpPr>
          <p:cNvPr id="398" name="Google Shape;398;p24">
            <a:extLst>
              <a:ext uri="{FF2B5EF4-FFF2-40B4-BE49-F238E27FC236}">
                <a16:creationId xmlns:a16="http://schemas.microsoft.com/office/drawing/2014/main" id="{BE0A5D6B-B6B4-EC78-DDD7-BBA34554B910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448675" y="4661018"/>
            <a:ext cx="3063170" cy="144931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Кластеризация и кэширование этапов расчетов во время работы с данными</a:t>
            </a:r>
            <a:endParaRPr sz="2000" dirty="0"/>
          </a:p>
        </p:txBody>
      </p:sp>
      <p:sp>
        <p:nvSpPr>
          <p:cNvPr id="399" name="Google Shape;399;p24">
            <a:extLst>
              <a:ext uri="{FF2B5EF4-FFF2-40B4-BE49-F238E27FC236}">
                <a16:creationId xmlns:a16="http://schemas.microsoft.com/office/drawing/2014/main" id="{5B65D43E-47B9-6D50-4BE2-C6BE16C4AE3E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8070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01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00" name="Google Shape;400;p24">
            <a:extLst>
              <a:ext uri="{FF2B5EF4-FFF2-40B4-BE49-F238E27FC236}">
                <a16:creationId xmlns:a16="http://schemas.microsoft.com/office/drawing/2014/main" id="{5043A225-EE7E-ED93-1BF8-68C41339333D}"/>
              </a:ext>
            </a:extLst>
          </p:cNvPr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Расширение базы парсинга для новостного блока</a:t>
            </a:r>
            <a:endParaRPr sz="2000" dirty="0"/>
          </a:p>
        </p:txBody>
      </p:sp>
      <p:sp>
        <p:nvSpPr>
          <p:cNvPr id="401" name="Google Shape;401;p24">
            <a:extLst>
              <a:ext uri="{FF2B5EF4-FFF2-40B4-BE49-F238E27FC236}">
                <a16:creationId xmlns:a16="http://schemas.microsoft.com/office/drawing/2014/main" id="{4777ECDF-5495-0D54-053B-B042CEB550CA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8299374" y="4783425"/>
            <a:ext cx="3572585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sz="2000" dirty="0"/>
              <a:t>Введение системы аккаунтов и повышение безопасности</a:t>
            </a:r>
            <a:endParaRPr sz="2000" dirty="0"/>
          </a:p>
        </p:txBody>
      </p:sp>
      <p:sp>
        <p:nvSpPr>
          <p:cNvPr id="402" name="Google Shape;402;p24">
            <a:extLst>
              <a:ext uri="{FF2B5EF4-FFF2-40B4-BE49-F238E27FC236}">
                <a16:creationId xmlns:a16="http://schemas.microsoft.com/office/drawing/2014/main" id="{038D2847-B7EB-6EC7-A23B-78D4DA543EC8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69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3" name="Google Shape;403;p24">
            <a:extLst>
              <a:ext uri="{FF2B5EF4-FFF2-40B4-BE49-F238E27FC236}">
                <a16:creationId xmlns:a16="http://schemas.microsoft.com/office/drawing/2014/main" id="{C3F8038A-3E1F-5B22-D73A-A009DC2DA0C5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950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03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04" name="Google Shape;404;p24">
            <a:extLst>
              <a:ext uri="{FF2B5EF4-FFF2-40B4-BE49-F238E27FC236}">
                <a16:creationId xmlns:a16="http://schemas.microsoft.com/office/drawing/2014/main" id="{A424F093-3B43-BE43-44EC-86D7C246D478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80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04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05" name="Google Shape;405;p24">
            <a:extLst>
              <a:ext uri="{FF2B5EF4-FFF2-40B4-BE49-F238E27FC236}">
                <a16:creationId xmlns:a16="http://schemas.microsoft.com/office/drawing/2014/main" id="{63A4B84C-24D1-4844-A9A3-B65F3C2F9BDB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69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C2C4CA4-D135-B2ED-BC0C-824919F7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по развитию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043144402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207</Words>
  <Application>Microsoft Office PowerPoint</Application>
  <PresentationFormat>Широкоэкранный</PresentationFormat>
  <Paragraphs>48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Roboto</vt:lpstr>
      <vt:lpstr>Arial</vt:lpstr>
      <vt:lpstr>Calibri</vt:lpstr>
      <vt:lpstr>Abril Fatface</vt:lpstr>
      <vt:lpstr>Roboto Mono</vt:lpstr>
      <vt:lpstr>Aldrich</vt:lpstr>
      <vt:lpstr>SlidesMania</vt:lpstr>
      <vt:lpstr>Интеллектуальная система планирования доходов банка</vt:lpstr>
      <vt:lpstr>Наша команда</vt:lpstr>
      <vt:lpstr>Бизнес-контекст</vt:lpstr>
      <vt:lpstr>06</vt:lpstr>
      <vt:lpstr>Решение</vt:lpstr>
      <vt:lpstr>Технологии</vt:lpstr>
      <vt:lpstr>06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Интеллектуальная система планирования доходов банка</dc:title>
  <dc:creator>Dasha Soloveva</dc:creator>
  <cp:lastModifiedBy>serg8let@gmail.com</cp:lastModifiedBy>
  <cp:revision>11</cp:revision>
  <dcterms:modified xsi:type="dcterms:W3CDTF">2026-07-17T18:54:20Z</dcterms:modified>
</cp:coreProperties>
</file>